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Design Thinking — %ED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Approche centrée utilisateur • 20/10/2025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Définition (introduction)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Une approche d'innovation centrée sur l'humain qui combine empathie, idéation, prototypage et test.</a:t>
            </a:r>
          </a:p>
          <a:p>
            <a:pPr/>
            <a:r>
              <a:t>Comprendre en profondeur les besoins des utilisateurs pour concevoir des solutions désirables, faisables et viables.</a:t>
            </a:r>
          </a:p>
          <a:p>
            <a:pPr/>
            <a:r>
              <a:t>Processus itératif, collaboratif et orienté action.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Étapes suivies par le Design Thinking (processus)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Empathie</a:t>
            </a:r>
          </a:p>
          <a:p>
            <a:pPr lvl="1"/>
            <a:r>
              <a:t>Observer, interviewer, cartographier l'expérience</a:t>
            </a:r>
          </a:p>
          <a:p>
            <a:pPr lvl="1"/>
            <a:r>
              <a:t>Identifier motivations, douleurs, attentes</a:t>
            </a:r>
          </a:p>
          <a:p>
            <a:pPr/>
            <a:r>
              <a:t>Définition</a:t>
            </a:r>
          </a:p>
          <a:p>
            <a:pPr lvl="1"/>
            <a:r>
              <a:t>Synthétiser les insights</a:t>
            </a:r>
          </a:p>
          <a:p>
            <a:pPr lvl="1"/>
            <a:r>
              <a:t>Reformuler le problème sous forme de point de vue</a:t>
            </a:r>
          </a:p>
          <a:p>
            <a:pPr/>
            <a:r>
              <a:t>Idéation</a:t>
            </a:r>
          </a:p>
          <a:p>
            <a:pPr lvl="1"/>
            <a:r>
              <a:t>Générer un grand volume d'idées (divergence)</a:t>
            </a:r>
          </a:p>
          <a:p>
            <a:pPr lvl="1"/>
            <a:r>
              <a:t>Sélectionner et cadrer (convergence)</a:t>
            </a:r>
          </a:p>
          <a:p>
            <a:pPr/>
            <a:r>
              <a:t>Prototypage</a:t>
            </a:r>
          </a:p>
          <a:p>
            <a:pPr lvl="1"/>
            <a:r>
              <a:t>Rendre tangible rapidement (maquettes, storyboards, cliquables)</a:t>
            </a:r>
          </a:p>
          <a:p>
            <a:pPr lvl="1"/>
            <a:r>
              <a:t>Tester le concept à moindre coût</a:t>
            </a:r>
          </a:p>
          <a:p>
            <a:pPr/>
            <a:r>
              <a:t>Test</a:t>
            </a:r>
          </a:p>
          <a:p>
            <a:pPr lvl="1"/>
            <a:r>
              <a:t>Recueillir des retours utilisateurs</a:t>
            </a:r>
          </a:p>
          <a:p>
            <a:pPr lvl="1"/>
            <a:r>
              <a:t>Mesurer, apprendre, ajuster</a:t>
            </a:r>
          </a:p>
          <a:p>
            <a:pPr/>
            <a:r>
              <a:t>Itération</a:t>
            </a:r>
          </a:p>
          <a:p>
            <a:pPr lvl="1"/>
            <a:r>
              <a:t>Boucler sur les étapes selon les retours</a:t>
            </a:r>
          </a:p>
          <a:p>
            <a:pPr lvl="1"/>
            <a:r>
              <a:t>Améliorer la solution en continu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Pourquoi le Design Thinking est-il puissant 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Centré utilisateur</a:t>
            </a:r>
          </a:p>
          <a:p>
            <a:pPr lvl="1"/>
            <a:r>
              <a:t>Réduit le risque de construire une solution inadéquate</a:t>
            </a:r>
          </a:p>
          <a:p>
            <a:pPr/>
            <a:r>
              <a:t>Réduction du risque</a:t>
            </a:r>
          </a:p>
          <a:p>
            <a:pPr lvl="1"/>
            <a:r>
              <a:t>Prototypes précoces → économies de temps et de budget</a:t>
            </a:r>
          </a:p>
          <a:p>
            <a:pPr/>
            <a:r>
              <a:t>Collaboration interdisciplinaire</a:t>
            </a:r>
          </a:p>
          <a:p>
            <a:pPr lvl="1"/>
            <a:r>
              <a:t>Aligne parties prenantes et facilite l'adhésion</a:t>
            </a:r>
          </a:p>
          <a:p>
            <a:pPr/>
            <a:r>
              <a:t>Innovation pragmatique</a:t>
            </a:r>
          </a:p>
          <a:p>
            <a:pPr lvl="1"/>
            <a:r>
              <a:t>Équilibre désirabilité, faisabilité, viabilité</a:t>
            </a:r>
          </a:p>
          <a:p>
            <a:pPr/>
            <a:r>
              <a:t>Accélération de l'apprentissage</a:t>
            </a:r>
          </a:p>
          <a:p>
            <a:pPr lvl="1"/>
            <a:r>
              <a:t>Boucles rapides de feedback et d'amélioration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Se focaliser sur l'utilisateur, expérimenter rapidement, apprendre en continu.</a:t>
            </a:r>
          </a:p>
          <a:p>
            <a:pPr/>
            <a:r>
              <a:t>Appliquez-le par étapes: un sprint, un prototype, un test.</a:t>
            </a:r>
          </a:p>
          <a:p>
            <a:pPr/>
            <a:r>
              <a:t>Mesurez l'impact utilisateur et business pour guider les décisions.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