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Design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EBEBEB"/>
                </a:solidFill>
                <a:latin typeface="Calibri"/>
              </a:rPr>
              <a:t>Présentation complète (40 pages)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Définition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Approche centrée sur l'humain.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Comprendre besoins, motivations, contextes réels des utilisateurs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Objectif.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Transformer des insights en solutions désirables, viables, faisables</a:t>
            </a:r>
          </a:p>
        </p:txBody>
      </p:sp>
      <p:pic>
        <p:nvPicPr>
          <p:cNvPr id="5" name="Picture 4" descr="visuel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Principes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Empathie.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Observer, interviewer, co-créer avec les utilisateurs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Expérimentation.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Prototyper tôt, tester souvent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Itération.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Amélioration continue basée sur retours</a:t>
            </a:r>
          </a:p>
        </p:txBody>
      </p:sp>
      <p:pic>
        <p:nvPicPr>
          <p:cNvPr id="5" name="Picture 4" descr="visuel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Quand l'utiliser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Problèmes complexes/ambiguës.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Nouveaux services, produits, parcours client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Aligner des équipes.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Créer un langage commun et un focus utilisateur</a:t>
            </a:r>
          </a:p>
        </p:txBody>
      </p:sp>
      <p:pic>
        <p:nvPicPr>
          <p:cNvPr id="5" name="Picture 4" descr="visuel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Résultats attendus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Adoption et satisfaction.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Solutions plus pertinentes pour les utilisateurs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Risque réduit.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Découvrir tôt ce qui fonctionne ou non</a:t>
            </a:r>
          </a:p>
        </p:txBody>
      </p:sp>
      <p:pic>
        <p:nvPicPr>
          <p:cNvPr id="5" name="Picture 4" descr="visuel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Exemples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Services publics.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Amélioration d'un parcours administratif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Banque/Assurance.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Onboarding digital simplifié</a:t>
            </a:r>
          </a:p>
        </p:txBody>
      </p:sp>
      <p:pic>
        <p:nvPicPr>
          <p:cNvPr id="5" name="Picture 4" descr="visuel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Processus du Design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5 étapes principales.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Empathiser, Définir, Idéer, Prototyper, Tester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Cycle non linéaire.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Allers-retours selon apprentissages</a:t>
            </a:r>
          </a:p>
        </p:txBody>
      </p:sp>
      <p:pic>
        <p:nvPicPr>
          <p:cNvPr id="5" name="Picture 4" descr="visuel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Empathiser —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Objectif.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Comprendre besoins et contraintes réelles</a:t>
            </a:r>
          </a:p>
        </p:txBody>
      </p:sp>
      <p:pic>
        <p:nvPicPr>
          <p:cNvPr id="5" name="Picture 4" descr="visuel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Empathiser — Méthodes.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Méthodes.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Interviews, observation, diary studies</a:t>
            </a:r>
          </a:p>
        </p:txBody>
      </p:sp>
      <p:pic>
        <p:nvPicPr>
          <p:cNvPr id="5" name="Picture 4" descr="visuel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Empathiser — Livrables.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Livrables.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Personas, cartes d'empathie, journey maps</a:t>
            </a:r>
          </a:p>
        </p:txBody>
      </p:sp>
      <p:pic>
        <p:nvPicPr>
          <p:cNvPr id="5" name="Picture 4" descr="visuel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Empathiser — Conseils.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Conseils.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Écouter activement, questionner, retirer les biais</a:t>
            </a:r>
          </a:p>
        </p:txBody>
      </p:sp>
      <p:pic>
        <p:nvPicPr>
          <p:cNvPr id="5" name="Picture 4" descr="visuel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Définir —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Objectif.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Formuler le problème sous forme de POV</a:t>
            </a:r>
          </a:p>
        </p:txBody>
      </p:sp>
      <p:pic>
        <p:nvPicPr>
          <p:cNvPr id="5" name="Picture 4" descr="visuel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Définir — Méthodes.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Méthodes.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How Might We, cadrage, critères de succès</a:t>
            </a:r>
          </a:p>
        </p:txBody>
      </p:sp>
      <p:pic>
        <p:nvPicPr>
          <p:cNvPr id="5" name="Picture 4" descr="visuel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Définir — Livrables.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Livrables.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Énoncé de problème, hypothèses priorisées</a:t>
            </a:r>
          </a:p>
        </p:txBody>
      </p:sp>
      <p:pic>
        <p:nvPicPr>
          <p:cNvPr id="5" name="Picture 4" descr="visuel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Définir — Conseils.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Conseils.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Spécifique, centré utilisateur, mesurable</a:t>
            </a:r>
          </a:p>
        </p:txBody>
      </p:sp>
      <p:pic>
        <p:nvPicPr>
          <p:cNvPr id="5" name="Picture 4" descr="visuel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Idéer —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Objectif.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Générer un large éventail d'idées</a:t>
            </a:r>
          </a:p>
        </p:txBody>
      </p:sp>
      <p:pic>
        <p:nvPicPr>
          <p:cNvPr id="5" name="Picture 4" descr="visu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Idéer — Méthodes.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Méthodes.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Brainstorming, SCAMPER, crazy 8s</a:t>
            </a:r>
          </a:p>
        </p:txBody>
      </p:sp>
      <p:pic>
        <p:nvPicPr>
          <p:cNvPr id="5" name="Picture 4" descr="visuel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Idéer — Livrables.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Livrables.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Cartes d'idées, storyboards</a:t>
            </a:r>
          </a:p>
        </p:txBody>
      </p:sp>
      <p:pic>
        <p:nvPicPr>
          <p:cNvPr id="5" name="Picture 4" descr="visuel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Idéer — Conseils.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Conseils.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Diverger d'abord, converger ensuite</a:t>
            </a:r>
          </a:p>
        </p:txBody>
      </p:sp>
      <p:pic>
        <p:nvPicPr>
          <p:cNvPr id="5" name="Picture 4" descr="visuel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Prototyper —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Objectif.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Rendre tangible pour apprendre vite</a:t>
            </a:r>
          </a:p>
        </p:txBody>
      </p:sp>
      <p:pic>
        <p:nvPicPr>
          <p:cNvPr id="5" name="Picture 4" descr="visuel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Prototyper — Méthodes.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Méthodes.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Maquettes papier, wireframes, maquettes interactives</a:t>
            </a:r>
          </a:p>
        </p:txBody>
      </p:sp>
      <p:pic>
        <p:nvPicPr>
          <p:cNvPr id="5" name="Picture 4" descr="visu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Prototyper — Livrables.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Livrables.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Prototypes low/high fidelity</a:t>
            </a:r>
          </a:p>
        </p:txBody>
      </p:sp>
      <p:pic>
        <p:nvPicPr>
          <p:cNvPr id="5" name="Picture 4" descr="visuel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Prototyper — Conseils.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Conseils.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Construire juste assez pour tester</a:t>
            </a:r>
          </a:p>
        </p:txBody>
      </p:sp>
      <p:pic>
        <p:nvPicPr>
          <p:cNvPr id="5" name="Picture 4" descr="visuel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Tester — Objectif.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Objectif.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Valider desirabilité, utilisabilité, valeur</a:t>
            </a:r>
          </a:p>
        </p:txBody>
      </p:sp>
      <p:pic>
        <p:nvPicPr>
          <p:cNvPr id="5" name="Picture 4" descr="visuel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Tester — Méthodes.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Méthodes.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Tests utilisateurs, A/B, shadowing</a:t>
            </a:r>
          </a:p>
        </p:txBody>
      </p:sp>
      <p:pic>
        <p:nvPicPr>
          <p:cNvPr id="5" name="Picture 4" descr="visuel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Tester — Livrables.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Livrables.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Feedbacks, insights, décisions d'itération</a:t>
            </a:r>
          </a:p>
        </p:txBody>
      </p:sp>
      <p:pic>
        <p:nvPicPr>
          <p:cNvPr id="5" name="Picture 4" descr="visuel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Tester — Conseils.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Conseils.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Observer comportements, pas seulement opinions</a:t>
            </a:r>
          </a:p>
        </p:txBody>
      </p:sp>
      <p:pic>
        <p:nvPicPr>
          <p:cNvPr id="5" name="Picture 4" descr="visuel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Synthèse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Itératif.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Reboucler selon retours utilisateurs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Collaboratif.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Co-création pluridisciplinaire</a:t>
            </a:r>
          </a:p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Orienté impact.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Mesurer valeur pour utilisateurs et business</a:t>
            </a:r>
          </a:p>
        </p:txBody>
      </p:sp>
      <p:pic>
        <p:nvPicPr>
          <p:cNvPr id="5" name="Picture 4" descr="visuel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Focus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Valeur perçue élevée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Meilleure adoption et satisfaction</a:t>
            </a:r>
          </a:p>
        </p:txBody>
      </p:sp>
      <p:pic>
        <p:nvPicPr>
          <p:cNvPr id="5" name="Picture 4" descr="visu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Réduction du risque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Tester tôt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Éviter investissements mal orientés</a:t>
            </a:r>
          </a:p>
        </p:txBody>
      </p:sp>
      <p:pic>
        <p:nvPicPr>
          <p:cNvPr id="5" name="Picture 4" descr="visuel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Cadre pour créativité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Divergence puis convergence structurée</a:t>
            </a:r>
          </a:p>
        </p:txBody>
      </p:sp>
      <p:pic>
        <p:nvPicPr>
          <p:cNvPr id="5" name="Picture 4" descr="visu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Alignement d'équipe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Langage commun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Vision partagée et décisions plus rapides</a:t>
            </a:r>
          </a:p>
        </p:txBody>
      </p:sp>
      <p:pic>
        <p:nvPicPr>
          <p:cNvPr id="5" name="Picture 4" descr="visu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Efficacité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Apprentissages rapides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Décisions basées sur données qualitatives</a:t>
            </a:r>
          </a:p>
        </p:txBody>
      </p:sp>
      <p:pic>
        <p:nvPicPr>
          <p:cNvPr id="5" name="Picture 4" descr="visuel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Expérience holistique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Fin-end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Parcours complet et points de friction</a:t>
            </a:r>
          </a:p>
        </p:txBody>
      </p:sp>
      <p:pic>
        <p:nvPicPr>
          <p:cNvPr id="5" name="Picture 4" descr="visuel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Scalabilité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Applicable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Produits, services, processus internes</a:t>
            </a:r>
          </a:p>
        </p:txBody>
      </p:sp>
      <p:pic>
        <p:nvPicPr>
          <p:cNvPr id="5" name="Picture 4" descr="visuel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Posture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Empathie, expérimentation, itération</a:t>
            </a:r>
          </a:p>
        </p:txBody>
      </p:sp>
      <p:pic>
        <p:nvPicPr>
          <p:cNvPr id="5" name="Picture 4" descr="visuel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Premier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Commencer petit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Sprint, prototype, test</a:t>
            </a:r>
          </a:p>
        </p:txBody>
      </p:sp>
      <p:pic>
        <p:nvPicPr>
          <p:cNvPr id="5" name="Picture 4" descr="visuel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Mesure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Définir métriques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Adoption, satisfaction, valeur créée</a:t>
            </a:r>
          </a:p>
        </p:txBody>
      </p:sp>
      <p:pic>
        <p:nvPicPr>
          <p:cNvPr id="5" name="Picture 4" descr="visuel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Favoriser co-création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Espaces, rituels, outils</a:t>
            </a:r>
          </a:p>
        </p:txBody>
      </p:sp>
      <p:pic>
        <p:nvPicPr>
          <p:cNvPr id="5" name="Picture 4" descr="visuel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Feuille de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Plan d'actions</a:t>
            </a:r>
          </a:p>
          <a:p>
            <a:pPr lvl="1"/>
            <a:r>
              <a:rPr sz="2000" b="0">
                <a:solidFill>
                  <a:srgbClr val="F5F5F5"/>
                </a:solidFill>
                <a:latin typeface="Calibri"/>
              </a:rPr>
              <a:t>Prochain trimestre: ateliers, tests, itérations</a:t>
            </a:r>
          </a:p>
        </p:txBody>
      </p:sp>
      <p:pic>
        <p:nvPicPr>
          <p:cNvPr id="5" name="Picture 4" descr="visuel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80160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EBEBEB"/>
                </a:solidFill>
                <a:latin typeface="Calibri"/>
              </a:rPr>
              <a:t>Questions / échanges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