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Thinking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(40 diapositives)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Comprendre le Design Thinking</a:t>
            </a:r>
          </a:p>
          <a:p>
            <a:pPr/>
            <a:r>
              <a:rPr sz="2400"/>
              <a:t>Maîtriser son processus et ses livrables</a:t>
            </a:r>
          </a:p>
          <a:p>
            <a:pPr/>
            <a:r>
              <a:rPr sz="2400"/>
              <a:t>Savoir quand et pourquoi l'utiliser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 du Design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Approche d'innovation centrée sur l'utilisateur</a:t>
            </a:r>
          </a:p>
          <a:p>
            <a:pPr/>
            <a:r>
              <a:rPr sz="2400"/>
              <a:t>Combine empathie, idéation, prototypage et test</a:t>
            </a:r>
          </a:p>
          <a:p>
            <a:pPr/>
            <a:r>
              <a:rPr sz="2400"/>
              <a:t>Favorise l'itération rapide et l'apprentissage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Centré utilisateur</a:t>
            </a:r>
          </a:p>
          <a:p>
            <a:pPr/>
            <a:r>
              <a:rPr sz="2400"/>
              <a:t>Co-création pluridisciplinaire</a:t>
            </a:r>
          </a:p>
          <a:p>
            <a:pPr/>
            <a:r>
              <a:rPr sz="2400"/>
              <a:t>Itération et expérimentation</a:t>
            </a:r>
          </a:p>
          <a:p>
            <a:pPr/>
            <a:r>
              <a:rPr sz="2400"/>
              <a:t>Prototypage tangible</a:t>
            </a:r>
          </a:p>
          <a:p>
            <a:pPr/>
            <a:r>
              <a:rPr sz="2400"/>
              <a:t>Storytelling et visualisation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Origines et évolution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Popularisé par IDEO et d.school (Stanford)</a:t>
            </a:r>
          </a:p>
          <a:p>
            <a:pPr/>
            <a:r>
              <a:rPr sz="2400"/>
              <a:t>Adoption large en produit, service, process</a:t>
            </a:r>
          </a:p>
          <a:p>
            <a:pPr/>
            <a:r>
              <a:rPr sz="2400"/>
              <a:t>Cadre adaptable aux contextes variés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Valeur pour les organisations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Réduction des risques d'échec</a:t>
            </a:r>
          </a:p>
          <a:p>
            <a:pPr/>
            <a:r>
              <a:rPr sz="2400"/>
              <a:t>Alignement des équipes autour des besoins réels</a:t>
            </a:r>
          </a:p>
          <a:p>
            <a:pPr/>
            <a:r>
              <a:rPr sz="2400"/>
              <a:t>Accélération de l'apprentissage marché</a:t>
            </a:r>
          </a:p>
          <a:p>
            <a:pPr/>
            <a:r>
              <a:rPr sz="2400"/>
              <a:t>Meilleure adoption par les utilisateurs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avec approches classiques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Linéraire vs itératif</a:t>
            </a:r>
          </a:p>
          <a:p>
            <a:pPr/>
            <a:r>
              <a:rPr sz="2400"/>
              <a:t>Spécifications lourdes vs prototypes rapides</a:t>
            </a:r>
          </a:p>
          <a:p>
            <a:pPr/>
            <a:r>
              <a:rPr sz="2400"/>
              <a:t>Hypothèses implicites vs validation terrain</a:t>
            </a:r>
          </a:p>
          <a:p>
            <a:pPr/>
            <a:r>
              <a:rPr sz="2400"/>
              <a:t>Décisions top-down vs insights utilisateurs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Quand l'utiliser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Incertitude sur le besoin ou la solution</a:t>
            </a:r>
          </a:p>
          <a:p>
            <a:pPr/>
            <a:r>
              <a:rPr sz="2400"/>
              <a:t>Recherche d'opportunités d'innovation</a:t>
            </a:r>
          </a:p>
          <a:p>
            <a:pPr/>
            <a:r>
              <a:rPr sz="2400"/>
              <a:t>Nécessité d'aligner des parties prenantes</a:t>
            </a:r>
          </a:p>
          <a:p>
            <a:pPr/>
            <a:r>
              <a:rPr sz="2400"/>
              <a:t>Amélioration d'expérience utilisateur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Processus en un coup d'œil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1) Empathie</a:t>
            </a:r>
          </a:p>
          <a:p>
            <a:pPr/>
            <a:r>
              <a:rPr sz="2400"/>
              <a:t>2) Définition</a:t>
            </a:r>
          </a:p>
          <a:p>
            <a:pPr/>
            <a:r>
              <a:rPr sz="2400"/>
              <a:t>3) Idéation</a:t>
            </a:r>
          </a:p>
          <a:p>
            <a:pPr/>
            <a:r>
              <a:rPr sz="2400"/>
              <a:t>4) Prototypage</a:t>
            </a:r>
          </a:p>
          <a:p>
            <a:pPr/>
            <a:r>
              <a:rPr sz="2400"/>
              <a:t>5)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Empathie —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Comprendre les utilisateurs et leur contexte</a:t>
            </a:r>
          </a:p>
          <a:p>
            <a:pPr/>
            <a:r>
              <a:rPr sz="2400"/>
              <a:t>Observer comportements et motivations</a:t>
            </a:r>
          </a:p>
          <a:p>
            <a:pPr/>
            <a:r>
              <a:rPr sz="2400"/>
              <a:t>Identifier douleurs et besoins latents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Empathie — Méthodes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Interviews, observations, shadowing</a:t>
            </a:r>
          </a:p>
          <a:p>
            <a:pPr/>
            <a:r>
              <a:rPr sz="2400"/>
              <a:t>Parcours et cartes d'empathie</a:t>
            </a:r>
          </a:p>
          <a:p>
            <a:pPr/>
            <a:r>
              <a:rPr sz="2400"/>
              <a:t>Journal de bord, immersions</a:t>
            </a:r>
          </a:p>
          <a:p>
            <a:pPr/>
            <a:r>
              <a:rPr sz="2400"/>
              <a:t>Collecte d'insights et citations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Empathie — Livrables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Personas et segments</a:t>
            </a:r>
          </a:p>
          <a:p>
            <a:pPr/>
            <a:r>
              <a:rPr sz="2400"/>
              <a:t>Carte d'empathie / parcours</a:t>
            </a:r>
          </a:p>
          <a:p>
            <a:pPr/>
            <a:r>
              <a:rPr sz="2400"/>
              <a:t>Insights clés priorisés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 —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Reformuler le problème à résoudre</a:t>
            </a:r>
          </a:p>
          <a:p>
            <a:pPr/>
            <a:r>
              <a:rPr sz="2400"/>
              <a:t>Cadrer le champ et la valeur visée</a:t>
            </a:r>
          </a:p>
          <a:p>
            <a:pPr/>
            <a:r>
              <a:rPr sz="2400"/>
              <a:t>Aligner l'équipe sur une POV claire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 — Outils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Point de vue (POV)</a:t>
            </a:r>
          </a:p>
          <a:p>
            <a:pPr/>
            <a:r>
              <a:rPr sz="2400"/>
              <a:t>How Might We (HMW)</a:t>
            </a:r>
          </a:p>
          <a:p>
            <a:pPr/>
            <a:r>
              <a:rPr sz="2400"/>
              <a:t>Critères de succès</a:t>
            </a:r>
          </a:p>
          <a:p>
            <a:pPr/>
            <a:r>
              <a:rPr sz="2400"/>
              <a:t>Carte des hypothèses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 — Livrables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Énoncé de problème centré utilisateur</a:t>
            </a:r>
          </a:p>
          <a:p>
            <a:pPr/>
            <a:r>
              <a:rPr sz="2400"/>
              <a:t>Hypothèses à tester</a:t>
            </a:r>
          </a:p>
          <a:p>
            <a:pPr/>
            <a:r>
              <a:rPr sz="2400"/>
              <a:t>Indicateurs de réussite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Idéation —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Générer un large éventail d'idées</a:t>
            </a:r>
          </a:p>
          <a:p>
            <a:pPr/>
            <a:r>
              <a:rPr sz="2400"/>
              <a:t>Favoriser la divergence avant convergence</a:t>
            </a:r>
          </a:p>
          <a:p>
            <a:pPr/>
            <a:r>
              <a:rPr sz="2400"/>
              <a:t>Explorer sans autocensure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Idéation —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Brainstorming guidé</a:t>
            </a:r>
          </a:p>
          <a:p>
            <a:pPr/>
            <a:r>
              <a:rPr sz="2400"/>
              <a:t>Crazy 8s</a:t>
            </a:r>
          </a:p>
          <a:p>
            <a:pPr/>
            <a:r>
              <a:rPr sz="2400"/>
              <a:t>SCAMPER</a:t>
            </a:r>
          </a:p>
          <a:p>
            <a:pPr/>
            <a:r>
              <a:rPr sz="2400"/>
              <a:t>Analogies et benchmarks</a:t>
            </a:r>
          </a:p>
          <a:p>
            <a:pPr/>
            <a:r>
              <a:rPr sz="2400"/>
              <a:t>Co-création avec utilisateurs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Idéation — Critères de sélection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Désirabilité (utilisateur)</a:t>
            </a:r>
          </a:p>
          <a:p>
            <a:pPr/>
            <a:r>
              <a:rPr sz="2400"/>
              <a:t>Faisabilité (technique)</a:t>
            </a:r>
          </a:p>
          <a:p>
            <a:pPr/>
            <a:r>
              <a:rPr sz="2400"/>
              <a:t>Viabilité (business)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Prototypage —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Donner forme rapide aux idées</a:t>
            </a:r>
          </a:p>
          <a:p>
            <a:pPr/>
            <a:r>
              <a:rPr sz="2400"/>
              <a:t>Tester des hypothèses clés</a:t>
            </a:r>
          </a:p>
          <a:p>
            <a:pPr/>
            <a:r>
              <a:rPr sz="2400"/>
              <a:t>Apprendre au moindre coût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Prototypage — Types de prototypes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Papier / fil de fer</a:t>
            </a:r>
          </a:p>
          <a:p>
            <a:pPr/>
            <a:r>
              <a:rPr sz="2400"/>
              <a:t>Maquettes interactives</a:t>
            </a:r>
          </a:p>
          <a:p>
            <a:pPr/>
            <a:r>
              <a:rPr sz="2400"/>
              <a:t>Service blueprint</a:t>
            </a:r>
          </a:p>
          <a:p>
            <a:pPr/>
            <a:r>
              <a:rPr sz="2400"/>
              <a:t>Pretotypes et simulations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Prototypage — 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Construire juste assez</a:t>
            </a:r>
          </a:p>
          <a:p>
            <a:pPr/>
            <a:r>
              <a:rPr sz="2400"/>
              <a:t>Rendre testable une hypothèse</a:t>
            </a:r>
          </a:p>
          <a:p>
            <a:pPr/>
            <a:r>
              <a:rPr sz="2400"/>
              <a:t>Itérer vite, documenter les apprentissages</a:t>
            </a:r>
          </a:p>
          <a:p>
            <a:pPr/>
            <a:r>
              <a:rPr sz="2400"/>
              <a:t>Impliquer l'équipe et parties prenantes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—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Valider ou invalider des hypothèses</a:t>
            </a:r>
          </a:p>
          <a:p>
            <a:pPr/>
            <a:r>
              <a:rPr sz="2400"/>
              <a:t>Observer l'usage réel</a:t>
            </a:r>
          </a:p>
          <a:p>
            <a:pPr/>
            <a:r>
              <a:rPr sz="2400"/>
              <a:t>Recueillir feedbacks honnêtes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— Métriques et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Taux de réussite des tâches</a:t>
            </a:r>
          </a:p>
          <a:p>
            <a:pPr/>
            <a:r>
              <a:rPr sz="2400"/>
              <a:t>Satisfaction perçue</a:t>
            </a:r>
          </a:p>
          <a:p>
            <a:pPr/>
            <a:r>
              <a:rPr sz="2400"/>
              <a:t>Temps et erreurs</a:t>
            </a:r>
          </a:p>
          <a:p>
            <a:pPr/>
            <a:r>
              <a:rPr sz="2400"/>
              <a:t>Verbatims et surprises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— Boucle d'itération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Adapter le prototype</a:t>
            </a:r>
          </a:p>
          <a:p>
            <a:pPr/>
            <a:r>
              <a:rPr sz="2400"/>
              <a:t>Reformuler si nécessaire</a:t>
            </a:r>
          </a:p>
          <a:p>
            <a:pPr/>
            <a:r>
              <a:rPr sz="2400"/>
              <a:t>Décider: pivoter, persévérer ou arrêter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Itération et apprentissage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Boucles rapides entre phases</a:t>
            </a:r>
          </a:p>
          <a:p>
            <a:pPr/>
            <a:r>
              <a:rPr sz="2400"/>
              <a:t>Cadre non linéaire</a:t>
            </a:r>
          </a:p>
          <a:p>
            <a:pPr/>
            <a:r>
              <a:rPr sz="2400"/>
              <a:t>Mesure continue de la valeur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Rôles et responsabilités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Sponsor, facilitateur, designers</a:t>
            </a:r>
          </a:p>
          <a:p>
            <a:pPr/>
            <a:r>
              <a:rPr sz="2400"/>
              <a:t>Experts métier et techniques</a:t>
            </a:r>
          </a:p>
          <a:p>
            <a:pPr/>
            <a:r>
              <a:rPr sz="2400"/>
              <a:t>Utilisateurs et clients</a:t>
            </a:r>
          </a:p>
          <a:p>
            <a:pPr/>
            <a:r>
              <a:rPr sz="2400"/>
              <a:t>Décideurs et gouvernance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Cadence et rituels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Ateliers time-boxés</a:t>
            </a:r>
          </a:p>
          <a:p>
            <a:pPr/>
            <a:r>
              <a:rPr sz="2400"/>
              <a:t>Revue d'apprentissages</a:t>
            </a:r>
          </a:p>
          <a:p>
            <a:pPr/>
            <a:r>
              <a:rPr sz="2400"/>
              <a:t>Démos fréquentes</a:t>
            </a:r>
          </a:p>
          <a:p>
            <a:pPr/>
            <a:r>
              <a:rPr sz="2400"/>
              <a:t>Rétrospectives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Outils et supports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Miro, Figma, Mural</a:t>
            </a:r>
          </a:p>
          <a:p>
            <a:pPr/>
            <a:r>
              <a:rPr sz="2400"/>
              <a:t>Canva, Notion, Slides</a:t>
            </a:r>
          </a:p>
          <a:p>
            <a:pPr/>
            <a:r>
              <a:rPr sz="2400"/>
              <a:t>Templates HMW, Personas</a:t>
            </a:r>
          </a:p>
          <a:p>
            <a:pPr/>
            <a:r>
              <a:rPr sz="2400"/>
              <a:t>Guides d'interview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Étude de cas — Produit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Refonte d'onboarding</a:t>
            </a:r>
          </a:p>
          <a:p>
            <a:pPr/>
            <a:r>
              <a:rPr sz="2400"/>
              <a:t>Tests de prototypes cliquables</a:t>
            </a:r>
          </a:p>
          <a:p>
            <a:pPr/>
            <a:r>
              <a:rPr sz="2400"/>
              <a:t>+20% activation</a:t>
            </a:r>
          </a:p>
          <a:p>
            <a:pPr/>
            <a:r>
              <a:rPr sz="2400"/>
              <a:t>Décisions guidées par données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Étude de cas —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Parcours client repensé</a:t>
            </a:r>
          </a:p>
          <a:p>
            <a:pPr/>
            <a:r>
              <a:rPr sz="2400"/>
              <a:t>Formation front-line</a:t>
            </a:r>
          </a:p>
          <a:p>
            <a:pPr/>
            <a:r>
              <a:rPr sz="2400"/>
              <a:t>Réduction temps d'attente</a:t>
            </a:r>
          </a:p>
          <a:p>
            <a:pPr/>
            <a:r>
              <a:rPr sz="2400"/>
              <a:t>Satisfaction en hausse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Étude de cas — Process interne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Simplification de workflow</a:t>
            </a:r>
          </a:p>
          <a:p>
            <a:pPr/>
            <a:r>
              <a:rPr sz="2400"/>
              <a:t>Automatisations ciblées</a:t>
            </a:r>
          </a:p>
          <a:p>
            <a:pPr/>
            <a:r>
              <a:rPr sz="2400"/>
              <a:t>Moins d'erreurs</a:t>
            </a:r>
          </a:p>
          <a:p>
            <a:pPr/>
            <a:r>
              <a:rPr sz="2400"/>
              <a:t>Gain de productivité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le Design Thinking est puissant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Cadre simple et actionnable</a:t>
            </a:r>
          </a:p>
          <a:p>
            <a:pPr/>
            <a:r>
              <a:rPr sz="2400"/>
              <a:t>Orienté impact utilisateur</a:t>
            </a:r>
          </a:p>
          <a:p>
            <a:pPr/>
            <a:r>
              <a:rPr sz="2400"/>
              <a:t>Révèle l'inattendu</a:t>
            </a:r>
          </a:p>
          <a:p>
            <a:pPr/>
            <a:r>
              <a:rPr sz="2400"/>
              <a:t>Apprentissage rapide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Créativité structurée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Divergence puis convergence</a:t>
            </a:r>
          </a:p>
          <a:p>
            <a:pPr/>
            <a:r>
              <a:rPr sz="2400"/>
              <a:t>Contraintes utiles</a:t>
            </a:r>
          </a:p>
          <a:p>
            <a:pPr/>
            <a:r>
              <a:rPr sz="2400"/>
              <a:t>Visualisation des idées</a:t>
            </a:r>
          </a:p>
          <a:p>
            <a:pPr/>
            <a:r>
              <a:rPr sz="2400"/>
              <a:t>Culture d'exploration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Réduction du risque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Tester tôt, échouer vite et pas cher</a:t>
            </a:r>
          </a:p>
          <a:p>
            <a:pPr/>
            <a:r>
              <a:rPr sz="2400"/>
              <a:t>Décisions fondées sur preuves</a:t>
            </a:r>
          </a:p>
          <a:p>
            <a:pPr/>
            <a:r>
              <a:rPr sz="2400"/>
              <a:t>Alignement sur des hypothèses clés</a:t>
            </a:r>
          </a:p>
          <a:p>
            <a:pPr/>
            <a:r>
              <a:rPr sz="2400"/>
              <a:t>Éviter les grands paris aveugles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Alignement et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Langage commun</a:t>
            </a:r>
          </a:p>
          <a:p>
            <a:pPr/>
            <a:r>
              <a:rPr sz="2400"/>
              <a:t>Co-création transverse</a:t>
            </a:r>
          </a:p>
          <a:p>
            <a:pPr/>
            <a:r>
              <a:rPr sz="2400"/>
              <a:t>Implication des parties prenantes</a:t>
            </a:r>
          </a:p>
          <a:p>
            <a:pPr/>
            <a:r>
              <a:rPr sz="2400"/>
              <a:t>Clarté des décisions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Focalisation valeur et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Désirabilité avant faisabilité</a:t>
            </a:r>
          </a:p>
          <a:p>
            <a:pPr/>
            <a:r>
              <a:rPr sz="2400"/>
              <a:t>Mesure des résultats</a:t>
            </a:r>
          </a:p>
          <a:p>
            <a:pPr/>
            <a:r>
              <a:rPr sz="2400"/>
              <a:t>Priorisation par impact</a:t>
            </a:r>
          </a:p>
          <a:p>
            <a:pPr/>
            <a:r>
              <a:rPr sz="2400"/>
              <a:t>Meilleure adoption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Accélération time-to-market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Prototypes au lieu de specs</a:t>
            </a:r>
          </a:p>
          <a:p>
            <a:pPr/>
            <a:r>
              <a:rPr sz="2400"/>
              <a:t>Apprentissages en continu</a:t>
            </a:r>
          </a:p>
          <a:p>
            <a:pPr/>
            <a:r>
              <a:rPr sz="2400"/>
              <a:t>Réutilisation d'actifs</a:t>
            </a:r>
          </a:p>
          <a:p>
            <a:pPr/>
            <a:r>
              <a:rPr sz="2400"/>
              <a:t>Découpage en incréments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Clarifier le problème et le succès attendu</a:t>
            </a:r>
          </a:p>
          <a:p>
            <a:pPr/>
            <a:r>
              <a:rPr sz="2400"/>
              <a:t>Impliquer tôt les utilisateurs</a:t>
            </a:r>
          </a:p>
          <a:p>
            <a:pPr/>
            <a:r>
              <a:rPr sz="2400"/>
              <a:t>Documenter chaque apprentissage</a:t>
            </a:r>
          </a:p>
          <a:p>
            <a:pPr/>
            <a:r>
              <a:rPr sz="2400"/>
              <a:t>Time-boxer les ateliers</a:t>
            </a:r>
          </a:p>
          <a:p>
            <a:pPr/>
            <a:r>
              <a:rPr sz="2400"/>
              <a:t>Rendre visibles les décisions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Pièges à éviter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Sauter l'empathie</a:t>
            </a:r>
          </a:p>
          <a:p>
            <a:pPr/>
            <a:r>
              <a:rPr sz="2400"/>
              <a:t>Prototyper trop tard ou trop parfait</a:t>
            </a:r>
          </a:p>
          <a:p>
            <a:pPr/>
            <a:r>
              <a:rPr sz="2400"/>
              <a:t>Confondre opinion et évidence</a:t>
            </a:r>
          </a:p>
          <a:p>
            <a:pPr/>
            <a:r>
              <a:rPr sz="2400"/>
              <a:t>Oublier de mesurer</a:t>
            </a:r>
          </a:p>
          <a:p>
            <a:pPr/>
            <a:r>
              <a:rPr sz="2400"/>
              <a:t>S'arrêter après un seul test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et 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Le Design Thinking: puissant et pragmatique</a:t>
            </a:r>
          </a:p>
          <a:p>
            <a:pPr/>
            <a:r>
              <a:rPr sz="2400"/>
              <a:t>Choisir un premier défi à adresser</a:t>
            </a:r>
          </a:p>
          <a:p>
            <a:pPr/>
            <a:r>
              <a:rPr sz="2400"/>
              <a:t>Former une équipe transverse</a:t>
            </a:r>
          </a:p>
          <a:p>
            <a:pPr/>
            <a:r>
              <a:rPr sz="2400"/>
              <a:t>Planifier un sprint d'exploration</a:t>
            </a:r>
          </a:p>
          <a:p>
            <a:pPr/>
            <a:r>
              <a:rPr sz="2400"/>
              <a:t>Mesurer et partager les résultats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